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iUW7jIFTqUzTm0/gTZ9jZzpPfp+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D665C5-D30B-CCC2-414A-969E53F4A417}" name="Noah Jones" initials="NJ" userId="S::Noah@familiajones.org::c7736cb5-d3f8-4f6c-bac8-cbab17b7e33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0AB10-B87B-4E1E-858B-87DD406D48A3}" v="11" dt="2026-01-28T20:00:08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114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h Jones" userId="c7736cb5-d3f8-4f6c-bac8-cbab17b7e335" providerId="ADAL" clId="{DE6F2979-8802-45E4-AC9F-4DFC1B2772D2}"/>
    <pc:docChg chg="undo custSel modSld">
      <pc:chgData name="Noah Jones" userId="c7736cb5-d3f8-4f6c-bac8-cbab17b7e335" providerId="ADAL" clId="{DE6F2979-8802-45E4-AC9F-4DFC1B2772D2}" dt="2026-01-28T20:00:26.496" v="456" actId="20577"/>
      <pc:docMkLst>
        <pc:docMk/>
      </pc:docMkLst>
      <pc:sldChg chg="modSp mod">
        <pc:chgData name="Noah Jones" userId="c7736cb5-d3f8-4f6c-bac8-cbab17b7e335" providerId="ADAL" clId="{DE6F2979-8802-45E4-AC9F-4DFC1B2772D2}" dt="2026-01-28T20:00:26.496" v="456" actId="20577"/>
        <pc:sldMkLst>
          <pc:docMk/>
          <pc:sldMk cId="0" sldId="256"/>
        </pc:sldMkLst>
        <pc:spChg chg="mod">
          <ac:chgData name="Noah Jones" userId="c7736cb5-d3f8-4f6c-bac8-cbab17b7e335" providerId="ADAL" clId="{DE6F2979-8802-45E4-AC9F-4DFC1B2772D2}" dt="2026-01-28T19:26:03.969" v="1" actId="14100"/>
          <ac:spMkLst>
            <pc:docMk/>
            <pc:sldMk cId="0" sldId="256"/>
            <ac:spMk id="48" creationId="{00000000-0000-0000-0000-000000000000}"/>
          </ac:spMkLst>
        </pc:spChg>
        <pc:spChg chg="mod">
          <ac:chgData name="Noah Jones" userId="c7736cb5-d3f8-4f6c-bac8-cbab17b7e335" providerId="ADAL" clId="{DE6F2979-8802-45E4-AC9F-4DFC1B2772D2}" dt="2026-01-28T19:26:19.573" v="22" actId="1035"/>
          <ac:spMkLst>
            <pc:docMk/>
            <pc:sldMk cId="0" sldId="256"/>
            <ac:spMk id="53" creationId="{00000000-0000-0000-0000-000000000000}"/>
          </ac:spMkLst>
        </pc:spChg>
        <pc:spChg chg="mod">
          <ac:chgData name="Noah Jones" userId="c7736cb5-d3f8-4f6c-bac8-cbab17b7e335" providerId="ADAL" clId="{DE6F2979-8802-45E4-AC9F-4DFC1B2772D2}" dt="2026-01-28T20:00:08.111" v="454" actId="20578"/>
          <ac:spMkLst>
            <pc:docMk/>
            <pc:sldMk cId="0" sldId="256"/>
            <ac:spMk id="54" creationId="{00000000-0000-0000-0000-000000000000}"/>
          </ac:spMkLst>
        </pc:spChg>
        <pc:spChg chg="mod">
          <ac:chgData name="Noah Jones" userId="c7736cb5-d3f8-4f6c-bac8-cbab17b7e335" providerId="ADAL" clId="{DE6F2979-8802-45E4-AC9F-4DFC1B2772D2}" dt="2026-01-28T19:58:24.431" v="428" actId="20577"/>
          <ac:spMkLst>
            <pc:docMk/>
            <pc:sldMk cId="0" sldId="256"/>
            <ac:spMk id="55" creationId="{00000000-0000-0000-0000-000000000000}"/>
          </ac:spMkLst>
        </pc:spChg>
        <pc:spChg chg="mod">
          <ac:chgData name="Noah Jones" userId="c7736cb5-d3f8-4f6c-bac8-cbab17b7e335" providerId="ADAL" clId="{DE6F2979-8802-45E4-AC9F-4DFC1B2772D2}" dt="2026-01-28T19:58:33.185" v="443" actId="2057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Noah Jones" userId="c7736cb5-d3f8-4f6c-bac8-cbab17b7e335" providerId="ADAL" clId="{DE6F2979-8802-45E4-AC9F-4DFC1B2772D2}" dt="2026-01-28T20:00:26.496" v="456" actId="20577"/>
          <ac:spMkLst>
            <pc:docMk/>
            <pc:sldMk cId="0" sldId="256"/>
            <ac:spMk id="57" creationId="{00000000-0000-0000-0000-000000000000}"/>
          </ac:spMkLst>
        </pc:spChg>
      </pc:sldChg>
    </pc:docChg>
  </pc:docChgLst>
</pc:chgInfo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EA094E-4BC1-4AB2-8BD2-090BC825B058}" authorId="{3BD665C5-D30B-CCC2-414A-969E53F4A417}" created="2026-01-28T20:00:06.87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4" creationId="{00000000-0000-0000-0000-000000000000}"/>
      <ac:txMk cp="289" len="158">
        <ac:context len="448" hash="829670198"/>
      </ac:txMk>
    </ac:txMkLst>
    <p188:pos x="5760268" y="1867662"/>
    <p188:txBody>
      <a:bodyPr/>
      <a:lstStyle/>
      <a:p>
        <a:r>
          <a:rPr lang="en-US"/>
          <a:t>Better explanation</a:t>
        </a:r>
      </a:p>
    </p188:txBody>
  </p188:cm>
  <p188:cm id="{7226FAFA-E1DB-4C1E-8AE8-52F5D158E97E}" authorId="{3BD665C5-D30B-CCC2-414A-969E53F4A417}" created="2026-01-28T20:00:39.56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7" creationId="{00000000-0000-0000-0000-000000000000}"/>
      <ac:txMk cp="352" len="118">
        <ac:context len="471" hash="52445249"/>
      </ac:txMk>
    </ac:txMkLst>
    <p188:pos x="5871412" y="2132183"/>
    <p188:txBody>
      <a:bodyPr/>
      <a:lstStyle/>
      <a:p>
        <a:r>
          <a:rPr lang="en-US"/>
          <a:t>Look at bob’s paper and other proximal papers and see what the top 3 limitations are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1" y="3810000"/>
            <a:ext cx="12152207" cy="0"/>
          </a:xfrm>
          <a:custGeom>
            <a:avLst/>
            <a:gdLst/>
            <a:ahLst/>
            <a:cxnLst/>
            <a:rect l="l" t="t" r="r" b="b"/>
            <a:pathLst>
              <a:path w="9114155" h="120000" extrusionOk="0">
                <a:moveTo>
                  <a:pt x="0" y="0"/>
                </a:moveTo>
                <a:lnTo>
                  <a:pt x="9114155" y="0"/>
                </a:lnTo>
              </a:path>
            </a:pathLst>
          </a:custGeom>
          <a:noFill/>
          <a:ln w="25400" cap="flat" cmpd="sng">
            <a:solidFill>
              <a:srgbClr val="182B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6090920" y="864869"/>
            <a:ext cx="0" cy="5963920"/>
          </a:xfrm>
          <a:custGeom>
            <a:avLst/>
            <a:gdLst/>
            <a:ahLst/>
            <a:cxnLst/>
            <a:rect l="l" t="t" r="r" b="b"/>
            <a:pathLst>
              <a:path w="120000" h="5963920" extrusionOk="0">
                <a:moveTo>
                  <a:pt x="0" y="0"/>
                </a:moveTo>
                <a:lnTo>
                  <a:pt x="0" y="5963478"/>
                </a:lnTo>
              </a:path>
            </a:pathLst>
          </a:custGeom>
          <a:noFill/>
          <a:ln w="25400" cap="flat" cmpd="sng">
            <a:solidFill>
              <a:srgbClr val="182B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1" y="818517"/>
            <a:ext cx="12186073" cy="45719"/>
          </a:xfrm>
          <a:custGeom>
            <a:avLst/>
            <a:gdLst/>
            <a:ahLst/>
            <a:cxnLst/>
            <a:rect l="l" t="t" r="r" b="b"/>
            <a:pathLst>
              <a:path w="9139555" h="864235" extrusionOk="0">
                <a:moveTo>
                  <a:pt x="0" y="864108"/>
                </a:moveTo>
                <a:lnTo>
                  <a:pt x="9139428" y="864108"/>
                </a:lnTo>
                <a:lnTo>
                  <a:pt x="9139428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solidFill>
            <a:srgbClr val="182B4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896784" y="213469"/>
            <a:ext cx="4388272" cy="38472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>
                <a:solidFill>
                  <a:srgbClr val="182B4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178340" y="933079"/>
            <a:ext cx="58160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2"/>
          </p:nvPr>
        </p:nvSpPr>
        <p:spPr>
          <a:xfrm>
            <a:off x="6187445" y="939314"/>
            <a:ext cx="5882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p3" descr="Image result for ucsd jsoe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0784" y="51855"/>
            <a:ext cx="2190257" cy="54633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185729" y="3926348"/>
            <a:ext cx="58160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4"/>
          </p:nvPr>
        </p:nvSpPr>
        <p:spPr>
          <a:xfrm>
            <a:off x="6194834" y="3932583"/>
            <a:ext cx="5882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5"/>
          </p:nvPr>
        </p:nvSpPr>
        <p:spPr>
          <a:xfrm>
            <a:off x="10850563" y="212725"/>
            <a:ext cx="46037" cy="46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" name="Google Shape;22;p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59" y="156891"/>
            <a:ext cx="1828336" cy="50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52025" y="64973"/>
            <a:ext cx="4388272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552025" y="64973"/>
            <a:ext cx="4388272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552025" y="64973"/>
            <a:ext cx="4388272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title"/>
          </p:nvPr>
        </p:nvSpPr>
        <p:spPr>
          <a:xfrm>
            <a:off x="1914525" y="28350"/>
            <a:ext cx="7817089" cy="5668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08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/>
              <a:t>Bio-Inspired Backbone Geometry for Enhanced 3D Force Estimation in Continuum Robots</a:t>
            </a:r>
            <a:endParaRPr sz="1400" dirty="0"/>
          </a:p>
        </p:txBody>
      </p:sp>
      <p:sp>
        <p:nvSpPr>
          <p:cNvPr id="53" name="Google Shape;53;p1"/>
          <p:cNvSpPr/>
          <p:nvPr/>
        </p:nvSpPr>
        <p:spPr>
          <a:xfrm>
            <a:off x="1524000" y="526418"/>
            <a:ext cx="91440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Noah Jones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T.K. Morimoto</a:t>
            </a:r>
            <a:endParaRPr dirty="0"/>
          </a:p>
        </p:txBody>
      </p:sp>
      <p:sp>
        <p:nvSpPr>
          <p:cNvPr id="54" name="Google Shape;54;p1"/>
          <p:cNvSpPr txBox="1"/>
          <p:nvPr/>
        </p:nvSpPr>
        <p:spPr>
          <a:xfrm>
            <a:off x="6078806" y="1154671"/>
            <a:ext cx="6113194" cy="25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5080" lvl="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Idea: </a:t>
            </a:r>
            <a:r>
              <a:rPr lang="en-US" dirty="0">
                <a:solidFill>
                  <a:schemeClr val="tx1"/>
                </a:solidFill>
              </a:rPr>
              <a:t>We propose a new approach for estimating multiple point forces using only proximal-mounted sensors and changes in the robot’s backbone geometry.</a:t>
            </a:r>
          </a:p>
          <a:p>
            <a:pPr marL="298450" marR="508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Improved Force Sensing:</a:t>
            </a:r>
            <a:r>
              <a:rPr lang="en-US" dirty="0">
                <a:solidFill>
                  <a:schemeClr val="tx1"/>
                </a:solidFill>
              </a:rPr>
              <a:t> We propose that varying the robot's backbone geometry enables more accurate estimation of unknown external loads.</a:t>
            </a:r>
            <a:r>
              <a:rPr lang="en-US" b="1" dirty="0">
                <a:solidFill>
                  <a:schemeClr val="tx1"/>
                </a:solidFill>
              </a:rPr>
              <a:t> Optimization: </a:t>
            </a:r>
            <a:r>
              <a:rPr lang="en-US" dirty="0">
                <a:solidFill>
                  <a:schemeClr val="tx1"/>
                </a:solidFill>
              </a:rPr>
              <a:t>We use MDO to find an optimal backbone design by maximizing the conditioning of the force-to-wrench Jacobian across multiple loading scenarios. </a:t>
            </a:r>
            <a:endParaRPr lang="en-US" b="1" dirty="0">
              <a:solidFill>
                <a:schemeClr val="tx1"/>
              </a:solidFill>
            </a:endParaRPr>
          </a:p>
          <a:p>
            <a:pPr marL="298450" marR="508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0" y="4162509"/>
            <a:ext cx="6107876" cy="25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indent="-285750">
              <a:lnSpc>
                <a:spcPct val="125000"/>
              </a:lnSpc>
              <a:buClr>
                <a:srgbClr val="182B48"/>
              </a:buClr>
              <a:buSzPts val="2000"/>
              <a:buFont typeface="Arial"/>
              <a:buChar char="•"/>
            </a:pPr>
            <a:r>
              <a:rPr lang="en-US" b="1" dirty="0"/>
              <a:t>Design Evaluation: </a:t>
            </a:r>
            <a:r>
              <a:rPr lang="en-US" dirty="0"/>
              <a:t>We compare designs numerically using manipulability ellipsoids. Superior geometries maximize the shortest axis (minimum singular value), ensuring sensitivity in all directions.</a:t>
            </a:r>
            <a:endParaRPr lang="en-US" b="1" dirty="0">
              <a:solidFill>
                <a:schemeClr val="tx1"/>
              </a:solidFill>
              <a:sym typeface="Calibri"/>
            </a:endParaRPr>
          </a:p>
          <a:p>
            <a:pPr marL="298450" lvl="0" indent="-285750">
              <a:lnSpc>
                <a:spcPct val="125000"/>
              </a:lnSpc>
              <a:buClr>
                <a:srgbClr val="182B48"/>
              </a:buClr>
              <a:buSzPts val="2000"/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  <a:sym typeface="Calibri"/>
              </a:rPr>
              <a:t>Experimental Validation: </a:t>
            </a:r>
            <a:r>
              <a:rPr lang="en-US" dirty="0"/>
              <a:t>We compare two-point-force estimation for a cylindrical and optimized design in hardware. For inter-force separations greater than 8 cm, the optimized design achieves median absolute errors of approximately 0.05 N, 1.0 mm, and 2.2°—corresponding to performance improvements of 74%, 67%, and 66% respectively over the cylindrical baseline.</a:t>
            </a:r>
            <a:endParaRPr lang="en-US" dirty="0">
              <a:solidFill>
                <a:schemeClr val="tx1"/>
              </a:solidFill>
              <a:sym typeface="Calibri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6107876" y="4177283"/>
            <a:ext cx="6096000" cy="278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lvl="0" indent="-285750">
              <a:lnSpc>
                <a:spcPct val="125000"/>
              </a:lnSpc>
              <a:buClr>
                <a:srgbClr val="182B48"/>
              </a:buClr>
              <a:buSzPts val="2000"/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  <a:sym typeface="Calibri"/>
              </a:rPr>
              <a:t>Sensing Through Shape: </a:t>
            </a:r>
            <a:r>
              <a:rPr lang="en-US" dirty="0">
                <a:solidFill>
                  <a:schemeClr val="tx1"/>
                </a:solidFill>
                <a:sym typeface="Calibri"/>
              </a:rPr>
              <a:t>We illustrate how a simple, bio-inspired artifact, whisker geometry, can be extended to more complex loading cases in surgical robotics.</a:t>
            </a:r>
            <a:br>
              <a:rPr lang="en-US" dirty="0">
                <a:solidFill>
                  <a:schemeClr val="tx1"/>
                </a:solidFill>
                <a:sym typeface="Calibri"/>
              </a:rPr>
            </a:br>
            <a:r>
              <a:rPr lang="en-US" b="1" dirty="0">
                <a:solidFill>
                  <a:schemeClr val="tx1"/>
                </a:solidFill>
                <a:sym typeface="Calibri"/>
              </a:rPr>
              <a:t>Optimization: </a:t>
            </a:r>
            <a:r>
              <a:rPr lang="en-US" dirty="0">
                <a:solidFill>
                  <a:schemeClr val="tx1"/>
                </a:solidFill>
                <a:sym typeface="Calibri"/>
              </a:rPr>
              <a:t>We show how optimization can be used to find an optimal backbone design, capable of resolving multiple point-loads </a:t>
            </a:r>
            <a:r>
              <a:rPr lang="en-US" dirty="0">
                <a:solidFill>
                  <a:schemeClr val="tx1"/>
                </a:solidFill>
              </a:rPr>
              <a:t>that conventional cylindrical backbones cannot due to inherent sensing degeneracies.</a:t>
            </a:r>
          </a:p>
          <a:p>
            <a:pPr marL="298450" lvl="0" indent="-285750">
              <a:lnSpc>
                <a:spcPct val="125000"/>
              </a:lnSpc>
              <a:buClr>
                <a:srgbClr val="182B48"/>
              </a:buClr>
              <a:buSzPts val="2000"/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  <a:sym typeface="Calibri"/>
              </a:rPr>
              <a:t>Hardware Testing: </a:t>
            </a:r>
            <a:r>
              <a:rPr lang="en-US" dirty="0">
                <a:solidFill>
                  <a:schemeClr val="tx1"/>
                </a:solidFill>
                <a:sym typeface="Calibri"/>
              </a:rPr>
              <a:t>We develop a custom testing rig featuring multiple PID controlled tensioning winches and a two-arm gimbal, capable of applying 3 tendon tensions, and 2 point-forces in 3D.</a:t>
            </a:r>
            <a:endParaRPr b="1" dirty="0">
              <a:solidFill>
                <a:schemeClr val="tx1"/>
              </a:solidFill>
              <a:sym typeface="Calibri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-1" y="1121156"/>
            <a:ext cx="6074015" cy="25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4785" marR="0" lvl="0" indent="-172085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82B48"/>
              </a:buClr>
              <a:buSzPts val="1600"/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</a:rPr>
              <a:t>Motivation:</a:t>
            </a:r>
            <a:r>
              <a:rPr lang="en-US" dirty="0">
                <a:solidFill>
                  <a:schemeClr val="tx1"/>
                </a:solidFill>
              </a:rPr>
              <a:t> Knowledge of robot-tissue interaction forces during surgery can reduce patient injury and improve quality of surgeon’s force feedback.</a:t>
            </a:r>
          </a:p>
          <a:p>
            <a:pPr marL="184785" marR="0" lvl="0" indent="-172085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82B48"/>
              </a:buClr>
              <a:buSzPts val="1600"/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</a:rPr>
              <a:t>Existing approaches:</a:t>
            </a:r>
          </a:p>
          <a:p>
            <a:pPr marL="184785" lvl="1" indent="-172085">
              <a:lnSpc>
                <a:spcPct val="125000"/>
              </a:lnSpc>
              <a:buClr>
                <a:srgbClr val="182B48"/>
              </a:buClr>
              <a:buSzPts val="1600"/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</a:rPr>
              <a:t>Body-Mounted Sensing: </a:t>
            </a:r>
            <a:r>
              <a:rPr lang="en-US" dirty="0">
                <a:solidFill>
                  <a:schemeClr val="tx1"/>
                </a:solidFill>
              </a:rPr>
              <a:t>Bulky, hard to sterilize.</a:t>
            </a:r>
          </a:p>
          <a:p>
            <a:pPr marL="184785" lvl="8" indent="-172085">
              <a:lnSpc>
                <a:spcPct val="125000"/>
              </a:lnSpc>
              <a:buClr>
                <a:srgbClr val="182B48"/>
              </a:buClr>
              <a:buSzPts val="1600"/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</a:rPr>
              <a:t>Visual-Based Sensing: </a:t>
            </a:r>
            <a:r>
              <a:rPr lang="en-US" dirty="0">
                <a:solidFill>
                  <a:schemeClr val="tx1"/>
                </a:solidFill>
              </a:rPr>
              <a:t>Limited space for camera integration, obstructed line-of-sight to full robot body, m</a:t>
            </a:r>
            <a:r>
              <a:rPr lang="en-US" dirty="0"/>
              <a:t>ay require a second incision.</a:t>
            </a:r>
            <a:endParaRPr lang="en-US" dirty="0">
              <a:solidFill>
                <a:schemeClr val="tx1"/>
              </a:solidFill>
            </a:endParaRPr>
          </a:p>
          <a:p>
            <a:pPr marL="184785" lvl="8" indent="-172085">
              <a:lnSpc>
                <a:spcPct val="125000"/>
              </a:lnSpc>
              <a:buClr>
                <a:srgbClr val="182B48"/>
              </a:buClr>
              <a:buSzPts val="1600"/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</a:rPr>
              <a:t>Proximal-Mounted Sensing: </a:t>
            </a:r>
            <a:r>
              <a:rPr lang="en-US" dirty="0">
                <a:solidFill>
                  <a:schemeClr val="tx1"/>
                </a:solidFill>
              </a:rPr>
              <a:t>Challenging to uniquely resolve </a:t>
            </a:r>
            <a:r>
              <a:rPr lang="en-US" i="1" dirty="0">
                <a:solidFill>
                  <a:schemeClr val="tx1"/>
                </a:solidFill>
              </a:rPr>
              <a:t>multiple</a:t>
            </a:r>
            <a:r>
              <a:rPr lang="en-US" dirty="0">
                <a:solidFill>
                  <a:schemeClr val="tx1"/>
                </a:solidFill>
              </a:rPr>
              <a:t> point forces (often not enough sensor information).</a:t>
            </a:r>
            <a:endParaRPr lang="en-US" dirty="0">
              <a:solidFill>
                <a:srgbClr val="182B48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D7B481-43EE-2816-BF4E-67A36A232E8D}"/>
              </a:ext>
            </a:extLst>
          </p:cNvPr>
          <p:cNvSpPr txBox="1"/>
          <p:nvPr/>
        </p:nvSpPr>
        <p:spPr>
          <a:xfrm>
            <a:off x="0" y="863471"/>
            <a:ext cx="609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CAAB0C-592F-377E-7D9F-E115B0C85B33}"/>
              </a:ext>
            </a:extLst>
          </p:cNvPr>
          <p:cNvSpPr txBox="1"/>
          <p:nvPr/>
        </p:nvSpPr>
        <p:spPr>
          <a:xfrm>
            <a:off x="-17194" y="3827016"/>
            <a:ext cx="609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86B1A-FDAD-916C-4C8D-2EC7020B3858}"/>
              </a:ext>
            </a:extLst>
          </p:cNvPr>
          <p:cNvSpPr txBox="1"/>
          <p:nvPr/>
        </p:nvSpPr>
        <p:spPr>
          <a:xfrm>
            <a:off x="6100791" y="824283"/>
            <a:ext cx="609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BCDF5-1F02-D773-622E-56865865A722}"/>
              </a:ext>
            </a:extLst>
          </p:cNvPr>
          <p:cNvSpPr txBox="1"/>
          <p:nvPr/>
        </p:nvSpPr>
        <p:spPr>
          <a:xfrm>
            <a:off x="6107876" y="3823955"/>
            <a:ext cx="609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Significance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346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Bio-Inspired Backbone Geometry for Enhanced 3D Force Estimation in Continuum Robots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Tolley</dc:creator>
  <cp:lastModifiedBy>Noah Jones</cp:lastModifiedBy>
  <cp:revision>1</cp:revision>
  <dcterms:created xsi:type="dcterms:W3CDTF">2020-05-06T21:25:48Z</dcterms:created>
  <dcterms:modified xsi:type="dcterms:W3CDTF">2026-01-28T20:00:43Z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2020-03-09T00:00:00Z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2020-05-06T00:00:00Z</vt:filetime>
  </property>
</Properties>
</file>